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71375" cy="691769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pic>
        <p:nvPicPr>
          <p:cNvPr id="14" name="Picture 13" descr="photo_2026-05-19_18-11-05-fotor-bg-remover-20260519181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605" y="211455"/>
            <a:ext cx="2541270" cy="217043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1244600" y="2832735"/>
            <a:ext cx="9103995" cy="2342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540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Project Title :Bule hora university Clearance System</a:t>
            </a:r>
            <a:endParaRPr lang="en-US" altLang="en-GB" sz="5400">
              <a:solidFill>
                <a:schemeClr val="accent6">
                  <a:lumMod val="40000"/>
                  <a:lumOff val="6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787400" y="564515"/>
            <a:ext cx="10616565" cy="572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en-GB" sz="2800">
                <a:solidFill>
                  <a:schemeClr val="accent6">
                    <a:lumMod val="40000"/>
                    <a:lumOff val="60000"/>
                  </a:schemeClr>
                </a:solidFill>
              </a:rPr>
              <a:t>                                     </a:t>
            </a:r>
            <a:r>
              <a:rPr lang="en-US" altLang="en-GB" sz="3600" b="1">
                <a:solidFill>
                  <a:schemeClr val="accent6">
                    <a:lumMod val="40000"/>
                    <a:lumOff val="60000"/>
                  </a:schemeClr>
                </a:solidFill>
              </a:rPr>
              <a:t>  Background</a:t>
            </a:r>
            <a:r>
              <a:rPr lang="en-US" altLang="en-GB" sz="3600" b="1">
                <a:solidFill>
                  <a:schemeClr val="bg1"/>
                </a:solidFill>
              </a:rPr>
              <a:t> </a:t>
            </a:r>
            <a:endParaRPr lang="en-US" altLang="en-GB" sz="3600" b="1">
              <a:solidFill>
                <a:schemeClr val="bg1"/>
              </a:solidFill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 Universities use clearance procedures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 Manual clearance wastes time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Paper-based systems cause delays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 Students face long waiting line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 Automation improves efficiency</a:t>
            </a:r>
            <a:endParaRPr lang="en-US" altLang="en-GB" sz="2800">
              <a:solidFill>
                <a:schemeClr val="bg1"/>
              </a:solidFill>
            </a:endParaRP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" y="6985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671830" y="575310"/>
            <a:ext cx="10711180" cy="5547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71830" y="813435"/>
            <a:ext cx="10711180" cy="5547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800">
                <a:solidFill>
                  <a:schemeClr val="accent6">
                    <a:lumMod val="40000"/>
                    <a:lumOff val="60000"/>
                  </a:schemeClr>
                </a:solidFill>
              </a:rPr>
              <a:t>                   </a:t>
            </a:r>
            <a:r>
              <a:rPr lang="en-US" altLang="en-GB" sz="2800">
                <a:solidFill>
                  <a:schemeClr val="bg1"/>
                </a:solidFill>
              </a:rPr>
              <a:t>      </a:t>
            </a:r>
            <a:r>
              <a:rPr lang="en-US" altLang="en-GB" sz="2800">
                <a:solidFill>
                  <a:schemeClr val="accent6">
                    <a:lumMod val="40000"/>
                    <a:lumOff val="60000"/>
                  </a:schemeClr>
                </a:solidFill>
              </a:rPr>
              <a:t>  </a:t>
            </a:r>
            <a:r>
              <a:rPr lang="en-US" altLang="en-GB" sz="3200">
                <a:solidFill>
                  <a:schemeClr val="accent6">
                    <a:lumMod val="40000"/>
                    <a:lumOff val="60000"/>
                  </a:schemeClr>
                </a:solidFill>
              </a:rPr>
              <a:t>Problem Statement</a:t>
            </a:r>
            <a:endParaRPr lang="en-US" altLang="en-GB" sz="32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Manual verification is slow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Data loss may occur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Difficult document tracking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Poor communication between departments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High operational cost</a:t>
            </a: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1012825" y="608965"/>
            <a:ext cx="10476865" cy="5709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altLang="en-GB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US" altLang="en-GB" sz="2800">
                <a:solidFill>
                  <a:schemeClr val="accent6">
                    <a:lumMod val="40000"/>
                    <a:lumOff val="60000"/>
                  </a:schemeClr>
                </a:solidFill>
              </a:rPr>
              <a:t>                </a:t>
            </a:r>
            <a:r>
              <a:rPr lang="en-US" altLang="en-GB" sz="3200" b="1">
                <a:solidFill>
                  <a:schemeClr val="accent6">
                    <a:lumMod val="40000"/>
                    <a:lumOff val="60000"/>
                  </a:schemeClr>
                </a:solidFill>
              </a:rPr>
              <a:t> General Objective</a:t>
            </a:r>
            <a:endParaRPr lang="en-US" altLang="en-GB" sz="3200" b="1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Develop online clearance system</a:t>
            </a:r>
            <a:endParaRPr lang="en-US" altLang="en-GB" sz="2800">
              <a:solidFill>
                <a:schemeClr val="bg1"/>
              </a:solidFill>
            </a:endParaRPr>
          </a:p>
          <a:p>
            <a:pPr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altLang="en-GB" sz="2800">
                <a:solidFill>
                  <a:schemeClr val="accent6">
                    <a:lumMod val="40000"/>
                    <a:lumOff val="60000"/>
                  </a:schemeClr>
                </a:solidFill>
              </a:rPr>
              <a:t>               </a:t>
            </a:r>
            <a:r>
              <a:rPr lang="en-US" altLang="en-GB" sz="2800" b="1">
                <a:solidFill>
                  <a:schemeClr val="accent6">
                    <a:lumMod val="40000"/>
                    <a:lumOff val="60000"/>
                  </a:schemeClr>
                </a:solidFill>
              </a:rPr>
              <a:t>  Specific Objectives</a:t>
            </a:r>
            <a:endParaRPr lang="en-US" altLang="en-GB" sz="2800" b="1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Reduce manual processing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Improve data management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Increase system security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Provide fast clearance service</a:t>
            </a: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565150" y="624205"/>
            <a:ext cx="10804525" cy="4874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endParaRPr lang="en-US" altLang="en-GB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GB" sz="3200">
                <a:solidFill>
                  <a:schemeClr val="accent6">
                    <a:lumMod val="60000"/>
                    <a:lumOff val="40000"/>
                  </a:schemeClr>
                </a:solidFill>
              </a:rPr>
              <a:t>   </a:t>
            </a:r>
            <a:r>
              <a:rPr lang="en-US" altLang="en-GB" sz="3200">
                <a:solidFill>
                  <a:schemeClr val="accent6">
                    <a:lumMod val="40000"/>
                    <a:lumOff val="60000"/>
                  </a:schemeClr>
                </a:solidFill>
              </a:rPr>
              <a:t>    Scope</a:t>
            </a:r>
            <a:endParaRPr lang="en-US" altLang="en-GB" sz="320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GB" sz="2400">
                <a:solidFill>
                  <a:schemeClr val="bg1"/>
                </a:solidFill>
              </a:rPr>
              <a:t>Student clearance management</a:t>
            </a:r>
            <a:endParaRPr lang="en-US" altLang="en-GB" sz="2400">
              <a:solidFill>
                <a:schemeClr val="bg1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GB" sz="2400">
                <a:solidFill>
                  <a:schemeClr val="bg1"/>
                </a:solidFill>
              </a:rPr>
              <a:t>Department approval system</a:t>
            </a:r>
            <a:endParaRPr lang="en-US" altLang="en-GB" sz="2400">
              <a:solidFill>
                <a:schemeClr val="bg1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GB" sz="2400">
                <a:solidFill>
                  <a:schemeClr val="bg1"/>
                </a:solidFill>
              </a:rPr>
              <a:t>Online report generation</a:t>
            </a:r>
            <a:endParaRPr lang="en-US" altLang="en-GB" sz="240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GB" sz="2400">
                <a:solidFill>
                  <a:schemeClr val="accent6">
                    <a:lumMod val="40000"/>
                    <a:lumOff val="60000"/>
                  </a:schemeClr>
                </a:solidFill>
              </a:rPr>
              <a:t>      </a:t>
            </a:r>
            <a:r>
              <a:rPr lang="en-US" altLang="en-GB" sz="3200">
                <a:solidFill>
                  <a:schemeClr val="accent6">
                    <a:lumMod val="40000"/>
                    <a:lumOff val="60000"/>
                  </a:schemeClr>
                </a:solidFill>
              </a:rPr>
              <a:t>  Limitations</a:t>
            </a:r>
            <a:endParaRPr lang="en-US" altLang="en-GB" sz="240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GB" sz="2400">
                <a:solidFill>
                  <a:schemeClr val="accent6">
                    <a:lumMod val="40000"/>
                    <a:lumOff val="60000"/>
                  </a:schemeClr>
                </a:solidFill>
              </a:rPr>
              <a:t>I</a:t>
            </a:r>
            <a:r>
              <a:rPr lang="en-US" altLang="en-GB" sz="2400">
                <a:solidFill>
                  <a:schemeClr val="bg1"/>
                </a:solidFill>
              </a:rPr>
              <a:t>nternet dependency</a:t>
            </a:r>
            <a:endParaRPr lang="en-US" altLang="en-GB" sz="2400">
              <a:solidFill>
                <a:schemeClr val="bg1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GB" sz="2400">
                <a:solidFill>
                  <a:schemeClr val="bg1"/>
                </a:solidFill>
              </a:rPr>
              <a:t>Limited implementation budget</a:t>
            </a:r>
            <a:endParaRPr lang="en-US" altLang="en-GB" sz="2400">
              <a:solidFill>
                <a:schemeClr val="bg1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GB" sz="2400">
                <a:solidFill>
                  <a:schemeClr val="bg1"/>
                </a:solidFill>
              </a:rPr>
              <a:t>Requires user training</a:t>
            </a:r>
            <a:endParaRPr lang="en-US" altLang="en-GB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1310640" y="540385"/>
            <a:ext cx="10038080" cy="5480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en-GB" sz="3200" b="1">
                <a:solidFill>
                  <a:schemeClr val="bg1"/>
                </a:solidFill>
              </a:rPr>
              <a:t>  </a:t>
            </a:r>
            <a:r>
              <a:rPr lang="en-US" altLang="en-GB" sz="3200" b="1">
                <a:solidFill>
                  <a:schemeClr val="accent6">
                    <a:lumMod val="40000"/>
                    <a:lumOff val="60000"/>
                  </a:schemeClr>
                </a:solidFill>
              </a:rPr>
              <a:t>     Significance</a:t>
            </a:r>
            <a:endParaRPr lang="en-US" altLang="en-GB" sz="3200" b="1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Saves student time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Reduces paperwork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Improves communication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Enhances data security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Simplifies administration</a:t>
            </a: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1090930" y="557530"/>
            <a:ext cx="10345420" cy="5382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solidFill>
                  <a:schemeClr val="accent6">
                    <a:lumMod val="40000"/>
                    <a:lumOff val="60000"/>
                  </a:schemeClr>
                </a:solidFill>
              </a:rPr>
              <a:t>Literature Review</a:t>
            </a:r>
            <a:endParaRPr lang="en-US" altLang="en-GB" sz="3200" b="1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Existing clearance systems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Web-based management systems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Digital transformation concepts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Database management studies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Related research findings</a:t>
            </a: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803910" y="538480"/>
            <a:ext cx="10821035" cy="5629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en-GB" sz="3200" b="1">
                <a:solidFill>
                  <a:schemeClr val="bg1"/>
                </a:solidFill>
              </a:rPr>
              <a:t>  </a:t>
            </a:r>
            <a:r>
              <a:rPr lang="en-US" altLang="en-GB" sz="3200" b="1">
                <a:solidFill>
                  <a:schemeClr val="accent6">
                    <a:lumMod val="40000"/>
                    <a:lumOff val="60000"/>
                  </a:schemeClr>
                </a:solidFill>
              </a:rPr>
              <a:t> Methodology</a:t>
            </a:r>
            <a:endParaRPr lang="en-US" altLang="en-GB" sz="3200" b="1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Requirement gathering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System analysis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System design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Coding and testing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Deployment and evaluation</a:t>
            </a: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882650" y="1214120"/>
            <a:ext cx="10374630" cy="423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882650" y="613410"/>
            <a:ext cx="10553065" cy="5828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solidFill>
                  <a:schemeClr val="accent6">
                    <a:lumMod val="40000"/>
                    <a:lumOff val="60000"/>
                  </a:schemeClr>
                </a:solidFill>
              </a:rPr>
              <a:t>Data Collection Methods</a:t>
            </a:r>
            <a:endParaRPr lang="en-US" altLang="en-GB" sz="3200" b="1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Interviews with staff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Student questionnaires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Observation techniques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Existing document analysis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Requirement analysis</a:t>
            </a: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1300480" y="757555"/>
            <a:ext cx="10116185" cy="5173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solidFill>
                  <a:schemeClr val="accent6">
                    <a:lumMod val="40000"/>
                    <a:lumOff val="60000"/>
                  </a:schemeClr>
                </a:solidFill>
              </a:rPr>
              <a:t>System Design</a:t>
            </a:r>
            <a:endParaRPr lang="en-US" altLang="en-GB" sz="3200" b="1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Use case diagram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Database schema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System flowchart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User interface design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System architecture</a:t>
            </a: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615315" y="717550"/>
            <a:ext cx="10715625" cy="5798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solidFill>
                  <a:schemeClr val="accent6">
                    <a:lumMod val="40000"/>
                    <a:lumOff val="60000"/>
                  </a:schemeClr>
                </a:solidFill>
              </a:rPr>
              <a:t>Implementation</a:t>
            </a:r>
            <a:endParaRPr lang="en-US" altLang="en-GB" sz="3200" b="1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Frontend using HTML/CSS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Backend using PHP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MySQL database integration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Login authentication module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Clearance approval module</a:t>
            </a: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783590" y="509270"/>
            <a:ext cx="10702290" cy="5312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solidFill>
                  <a:schemeClr val="accent6">
                    <a:lumMod val="40000"/>
                    <a:lumOff val="60000"/>
                  </a:schemeClr>
                </a:solidFill>
              </a:rPr>
              <a:t>Results and Discussion</a:t>
            </a:r>
            <a:endParaRPr lang="en-US" altLang="en-GB" sz="3200" b="1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Faster clearance process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Reduced paperwork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Improved accuracy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Easy report generation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Better user satisfaction</a:t>
            </a: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485140" y="857250"/>
            <a:ext cx="10971530" cy="543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 sz="2800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310005" y="1104900"/>
            <a:ext cx="9759315" cy="4558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en-GB" sz="3200">
                <a:solidFill>
                  <a:schemeClr val="accent6">
                    <a:lumMod val="40000"/>
                    <a:lumOff val="60000"/>
                  </a:schemeClr>
                </a:solidFill>
              </a:rPr>
              <a:t>Conclusion</a:t>
            </a:r>
            <a:endParaRPr lang="en-US" altLang="en-GB" sz="320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System objectives achieved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Clearance process improved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Efficient data handling provided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Web system increases productivity</a:t>
            </a:r>
            <a:endParaRPr lang="en-US" altLang="en-GB" sz="28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</a:rPr>
              <a:t>Future expansion is possible</a:t>
            </a: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78885" y="2013585"/>
            <a:ext cx="642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929005" y="1323340"/>
            <a:ext cx="10335260" cy="5064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>
                <a:solidFill>
                  <a:schemeClr val="accent6">
                    <a:lumMod val="40000"/>
                    <a:lumOff val="60000"/>
                  </a:schemeClr>
                </a:solidFill>
              </a:rPr>
              <a:t>Recommendations</a:t>
            </a:r>
            <a:endParaRPr lang="en-US" altLang="en-GB" sz="320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altLang="en-GB" sz="2800">
                <a:solidFill>
                  <a:schemeClr val="bg1"/>
                </a:solidFill>
              </a:rPr>
              <a:t>Add mobile application</a:t>
            </a:r>
            <a:endParaRPr lang="en-US" altLang="en-GB" sz="2800">
              <a:solidFill>
                <a:schemeClr val="bg1"/>
              </a:solidFill>
            </a:endParaRPr>
          </a:p>
          <a:p>
            <a:r>
              <a:rPr lang="en-US" altLang="en-GB" sz="2800">
                <a:solidFill>
                  <a:schemeClr val="bg1"/>
                </a:solidFill>
              </a:rPr>
              <a:t>Improve security features</a:t>
            </a:r>
            <a:endParaRPr lang="en-US" altLang="en-GB" sz="2800">
              <a:solidFill>
                <a:schemeClr val="bg1"/>
              </a:solidFill>
            </a:endParaRPr>
          </a:p>
          <a:p>
            <a:r>
              <a:rPr lang="en-US" altLang="en-GB" sz="2800">
                <a:solidFill>
                  <a:schemeClr val="bg1"/>
                </a:solidFill>
              </a:rPr>
              <a:t>Enable online notifications</a:t>
            </a:r>
            <a:endParaRPr lang="en-US" altLang="en-GB" sz="2800">
              <a:solidFill>
                <a:schemeClr val="bg1"/>
              </a:solidFill>
            </a:endParaRPr>
          </a:p>
          <a:p>
            <a:r>
              <a:rPr lang="en-US" altLang="en-GB" sz="2800">
                <a:solidFill>
                  <a:schemeClr val="bg1"/>
                </a:solidFill>
              </a:rPr>
              <a:t>Regular system maintenance</a:t>
            </a:r>
            <a:endParaRPr lang="en-US" altLang="en-GB" sz="2800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29005" y="1323340"/>
            <a:ext cx="10335260" cy="5064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800">
                <a:solidFill>
                  <a:schemeClr val="bg1"/>
                </a:solidFill>
              </a:rPr>
              <a:t>    </a:t>
            </a:r>
            <a:endParaRPr lang="en-US" altLang="en-GB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dc550aa75f9e55b8a64ae945d62f88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59690"/>
            <a:ext cx="1219136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74370" y="909955"/>
            <a:ext cx="5789295" cy="6017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chemeClr val="accent6">
                    <a:lumMod val="40000"/>
                    <a:lumOff val="60000"/>
                  </a:schemeClr>
                </a:solidFill>
              </a:rPr>
              <a:t>     GROUP NAME                                                   ID Number</a:t>
            </a:r>
            <a:endParaRPr lang="en-US" altLang="en-GB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en-GB">
                <a:solidFill>
                  <a:schemeClr val="bg1"/>
                </a:solidFill>
              </a:rPr>
              <a:t>1.Dagmawit Mekuria.....................................RU0040/16</a:t>
            </a:r>
            <a:endParaRPr lang="en-US" altLang="en-GB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en-GB">
                <a:solidFill>
                  <a:schemeClr val="bg1"/>
                </a:solidFill>
              </a:rPr>
              <a:t>2.Bilisuma Bayisa............................................RU0470/16</a:t>
            </a:r>
            <a:endParaRPr lang="en-US" altLang="en-GB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en-GB">
                <a:solidFill>
                  <a:schemeClr val="bg1"/>
                </a:solidFill>
              </a:rPr>
              <a:t>3.Tamrat Kebede.............................................RU0025/16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591300" y="370840"/>
            <a:ext cx="5272405" cy="457708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2268</Words>
  <Application>WPS Presentation</Application>
  <PresentationFormat>Widescreen</PresentationFormat>
  <Paragraphs>132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CSE</cp:lastModifiedBy>
  <cp:revision>6</cp:revision>
  <dcterms:created xsi:type="dcterms:W3CDTF">2025-07-23T00:59:00Z</dcterms:created>
  <dcterms:modified xsi:type="dcterms:W3CDTF">2026-05-21T09:15:59Z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5E11A270102A4C16A946BD581DE0D41C_13</vt:lpwstr>
  </property>
  <property fmtid="{D5CDD505-2E9C-101B-9397-08002B2CF9AE}" pid="3" name="KSOProductBuildVer">
    <vt:lpwstr>1033-12.1.0.26372</vt:lpwstr>
  </property>
</Properties>
</file>